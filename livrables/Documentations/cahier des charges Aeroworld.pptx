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Montserrat" panose="00000500000000000000" pitchFamily="50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3c28d163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055BBE5B-703A-1AD6-AE87-33C85CC4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>
            <a:extLst>
              <a:ext uri="{FF2B5EF4-FFF2-40B4-BE49-F238E27FC236}">
                <a16:creationId xmlns:a16="http://schemas.microsoft.com/office/drawing/2014/main" id="{024AAAF5-477E-D428-C60D-BD7DE53838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>
            <a:extLst>
              <a:ext uri="{FF2B5EF4-FFF2-40B4-BE49-F238E27FC236}">
                <a16:creationId xmlns:a16="http://schemas.microsoft.com/office/drawing/2014/main" id="{3AC666AD-2B4B-E72B-6D7C-26B89A4EA2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1419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4903072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f4903072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sz="4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Cahier des charges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r>
              <a:rPr lang="fr-F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Élaboration d’un Portfolio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228600" lvl="0" indent="-22605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10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10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10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10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10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10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10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10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10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100">
                <a:latin typeface="Montserrat"/>
                <a:ea typeface="Montserrat"/>
                <a:cs typeface="Montserrat"/>
                <a:sym typeface="Montserrat"/>
              </a:rPr>
              <a:t>Devis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Présentation du projet</a:t>
            </a:r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r>
              <a:rPr lang="fr-FR" sz="1400"/>
              <a:t>Ce projet consiste à concevoir et déployer un </a:t>
            </a:r>
            <a:r>
              <a:rPr lang="fr-FR" sz="1400" b="1"/>
              <a:t>portfolio professionnel de Data Analyst</a:t>
            </a:r>
            <a:r>
              <a:rPr lang="fr-FR" sz="1400"/>
              <a:t>, destiné à présenter de manière structurée et pédagogique :</a:t>
            </a:r>
          </a:p>
          <a:p>
            <a:r>
              <a:rPr lang="fr-FR" sz="1400"/>
              <a:t>le parcours professionnel du candidat,</a:t>
            </a:r>
          </a:p>
          <a:p>
            <a:r>
              <a:rPr lang="fr-FR" sz="1400"/>
              <a:t>ses compétences techniques et métiers,</a:t>
            </a:r>
          </a:p>
          <a:p>
            <a:r>
              <a:rPr lang="fr-FR" sz="1400"/>
              <a:t>une sélection de projets data représentatifs,</a:t>
            </a:r>
          </a:p>
          <a:p>
            <a:r>
              <a:rPr lang="fr-FR" sz="1400"/>
              <a:t>sa capacité à restituer des analyses à des publics non techniques.</a:t>
            </a:r>
          </a:p>
          <a:p>
            <a:r>
              <a:rPr lang="fr-FR" sz="1400"/>
              <a:t>Le portfolio s’appuie sur :</a:t>
            </a:r>
          </a:p>
          <a:p>
            <a:r>
              <a:rPr lang="fr-FR" sz="1400"/>
              <a:t>une </a:t>
            </a:r>
            <a:r>
              <a:rPr lang="fr-FR" sz="1400" b="1"/>
              <a:t>page web GitHub Pages</a:t>
            </a:r>
            <a:r>
              <a:rPr lang="fr-FR" sz="1400"/>
              <a:t>,</a:t>
            </a:r>
          </a:p>
          <a:p>
            <a:r>
              <a:rPr lang="fr-FR" sz="1400"/>
              <a:t>des </a:t>
            </a:r>
            <a:r>
              <a:rPr lang="fr-FR" sz="1400" b="1"/>
              <a:t>repositories GitHub documentés</a:t>
            </a:r>
            <a:r>
              <a:rPr lang="fr-FR" sz="1400"/>
              <a:t>,</a:t>
            </a:r>
          </a:p>
          <a:p>
            <a:r>
              <a:rPr lang="fr-FR" sz="1400"/>
              <a:t>des </a:t>
            </a:r>
            <a:r>
              <a:rPr lang="fr-FR" sz="1400" b="1"/>
              <a:t>dashboards Power BI</a:t>
            </a:r>
            <a:r>
              <a:rPr lang="fr-FR" sz="1400"/>
              <a:t>,</a:t>
            </a:r>
          </a:p>
          <a:p>
            <a:r>
              <a:rPr lang="fr-FR" sz="1400"/>
              <a:t>des livrables méthodologiques (documentation, vidéo pédagogique, veille technologique)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Enjeux et objectifs</a:t>
            </a:r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r>
              <a:rPr lang="fr-FR" sz="700" b="1"/>
              <a:t>2.1 Besoins du client / de l’entreprise</a:t>
            </a:r>
          </a:p>
          <a:p>
            <a:r>
              <a:rPr lang="fr-FR" sz="700"/>
              <a:t>Dans un contexte de recrutement ou de mission data, les entreprises ont besoin de :</a:t>
            </a:r>
          </a:p>
          <a:p>
            <a:r>
              <a:rPr lang="fr-FR" sz="700"/>
              <a:t>comprendre rapidement le </a:t>
            </a:r>
            <a:r>
              <a:rPr lang="fr-FR" sz="700" b="1"/>
              <a:t>niveau technique réel</a:t>
            </a:r>
            <a:r>
              <a:rPr lang="fr-FR" sz="700"/>
              <a:t> d’un candidat,</a:t>
            </a:r>
          </a:p>
          <a:p>
            <a:r>
              <a:rPr lang="fr-FR" sz="700"/>
              <a:t>évaluer sa </a:t>
            </a:r>
            <a:r>
              <a:rPr lang="fr-FR" sz="700" b="1"/>
              <a:t>posture métier et conseil</a:t>
            </a:r>
            <a:r>
              <a:rPr lang="fr-FR" sz="700"/>
              <a:t>,</a:t>
            </a:r>
          </a:p>
          <a:p>
            <a:r>
              <a:rPr lang="fr-FR" sz="700"/>
              <a:t>visualiser sa capacité à </a:t>
            </a:r>
            <a:r>
              <a:rPr lang="fr-FR" sz="700" b="1"/>
              <a:t>structurer, analyser et restituer des données</a:t>
            </a:r>
            <a:r>
              <a:rPr lang="fr-FR" sz="700"/>
              <a:t>.</a:t>
            </a:r>
          </a:p>
          <a:p>
            <a:r>
              <a:rPr lang="fr-FR" sz="700"/>
              <a:t>Le portfolio répond à ce besoin en centralisant des preuves concrètes de compétences.</a:t>
            </a:r>
          </a:p>
          <a:p>
            <a:r>
              <a:rPr lang="fr-FR" sz="700" b="1"/>
              <a:t>2.2 Raisons du besoin</a:t>
            </a:r>
          </a:p>
          <a:p>
            <a:r>
              <a:rPr lang="fr-FR" sz="700"/>
              <a:t>Valoriser un parcours professionnel hybride (métier → data)</a:t>
            </a:r>
          </a:p>
          <a:p>
            <a:r>
              <a:rPr lang="fr-FR" sz="700"/>
              <a:t>Donner de la lisibilité à des projets techniques parfois complexes</a:t>
            </a:r>
          </a:p>
          <a:p>
            <a:r>
              <a:rPr lang="fr-FR" sz="700"/>
              <a:t>Faciliter l’échange avec des recruteurs ou décideurs non techniques</a:t>
            </a:r>
          </a:p>
          <a:p>
            <a:r>
              <a:rPr lang="fr-FR" sz="700" b="1"/>
              <a:t>2.3 Objectifs SMART</a:t>
            </a:r>
          </a:p>
          <a:p>
            <a:r>
              <a:rPr lang="fr-FR" sz="700" b="1"/>
              <a:t>Spécifique</a:t>
            </a:r>
            <a:r>
              <a:rPr lang="fr-FR" sz="700"/>
              <a:t> : présenter au moins 10 projets data documentés</a:t>
            </a:r>
          </a:p>
          <a:p>
            <a:r>
              <a:rPr lang="fr-FR" sz="700" b="1"/>
              <a:t>Mesurable</a:t>
            </a:r>
            <a:r>
              <a:rPr lang="fr-FR" sz="700"/>
              <a:t> : 100 % des projets disposent d’un README structuré</a:t>
            </a:r>
          </a:p>
          <a:p>
            <a:r>
              <a:rPr lang="fr-FR" sz="700" b="1"/>
              <a:t>Atteignable</a:t>
            </a:r>
            <a:r>
              <a:rPr lang="fr-FR" sz="700"/>
              <a:t> : basé sur des projets déjà réalisés</a:t>
            </a:r>
          </a:p>
          <a:p>
            <a:r>
              <a:rPr lang="fr-FR" sz="700" b="1"/>
              <a:t>Réaliste</a:t>
            </a:r>
            <a:r>
              <a:rPr lang="fr-FR" sz="700"/>
              <a:t> : outils standards (GitHub, Power BI)</a:t>
            </a:r>
          </a:p>
          <a:p>
            <a:r>
              <a:rPr lang="fr-FR" sz="700" b="1"/>
              <a:t>Temporel</a:t>
            </a:r>
            <a:r>
              <a:rPr lang="fr-FR" sz="700"/>
              <a:t> : portfolio finalisé avant soutenance OpenClassrooms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3. Équipe projet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C0CCBFC-3D6F-39B5-E330-0A323EA5C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6145"/>
              </p:ext>
            </p:extLst>
          </p:nvPr>
        </p:nvGraphicFramePr>
        <p:xfrm>
          <a:off x="759069" y="2479430"/>
          <a:ext cx="10515600" cy="1219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354780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5711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24441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Rôle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Responsabilités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819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Chef de projet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Antoine Baude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Cadrage, conception, réalisation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254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Data Analyst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Antoine Baude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Analyse, visualisation,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67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Testeur / utilisateur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Hayley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Relecture,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00203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0D6C5F07-54CE-7EA8-D479-2CA1BDE22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164070"/>
            <a:ext cx="109083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Projet volontairement mené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autonomie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afin de démontrer la capacité à piloter un projet data de bout en bout.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0" name="Rectangle 11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Spécifications ergonomiques</a:t>
            </a:r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r>
              <a:rPr lang="fr-FR" sz="1600" b="1"/>
              <a:t>4.1 Principes ergonomiques</a:t>
            </a:r>
          </a:p>
          <a:p>
            <a:r>
              <a:rPr lang="fr-FR" sz="1600"/>
              <a:t>Interface claire et lisible</a:t>
            </a:r>
          </a:p>
          <a:p>
            <a:r>
              <a:rPr lang="fr-FR" sz="1600"/>
              <a:t>Hiérarchisation de l’information</a:t>
            </a:r>
          </a:p>
          <a:p>
            <a:r>
              <a:rPr lang="fr-FR" sz="1600"/>
              <a:t>Limitation de la surcharge visuelle</a:t>
            </a:r>
          </a:p>
          <a:p>
            <a:r>
              <a:rPr lang="fr-FR" sz="1600"/>
              <a:t>Cohérence graphique entre pages et dashboards</a:t>
            </a:r>
          </a:p>
          <a:p>
            <a:r>
              <a:rPr lang="fr-FR" sz="1600" b="1"/>
              <a:t>4.2 Navigation &amp; UX</a:t>
            </a:r>
          </a:p>
          <a:p>
            <a:r>
              <a:rPr lang="fr-FR" sz="1600"/>
              <a:t>Navigation simple par onglets / sections</a:t>
            </a:r>
          </a:p>
          <a:p>
            <a:r>
              <a:rPr lang="fr-FR" sz="1600"/>
              <a:t>Accès direct aux projets depuis GitHub</a:t>
            </a:r>
          </a:p>
          <a:p>
            <a:r>
              <a:rPr lang="fr-FR" sz="1600"/>
              <a:t>Structure identique sur chaque repository</a:t>
            </a:r>
          </a:p>
          <a:p>
            <a:r>
              <a:rPr lang="fr-FR" sz="1600"/>
              <a:t>Priorité donnée à la compréhension métier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5. Spécifications fonctionnelles</a:t>
            </a:r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r>
              <a:rPr lang="fr-FR" sz="1600"/>
              <a:t>Le portfolio doit permettre :</a:t>
            </a:r>
          </a:p>
          <a:p>
            <a:r>
              <a:rPr lang="fr-FR" sz="1600"/>
              <a:t>la consultation du </a:t>
            </a:r>
            <a:r>
              <a:rPr lang="fr-FR" sz="1600" b="1"/>
              <a:t>profil professionnel</a:t>
            </a:r>
            <a:r>
              <a:rPr lang="fr-FR" sz="1600"/>
              <a:t>,</a:t>
            </a:r>
          </a:p>
          <a:p>
            <a:r>
              <a:rPr lang="fr-FR" sz="1600"/>
              <a:t>l’accès aux </a:t>
            </a:r>
            <a:r>
              <a:rPr lang="fr-FR" sz="1600" b="1"/>
              <a:t>projets data documentés</a:t>
            </a:r>
            <a:r>
              <a:rPr lang="fr-FR" sz="1600"/>
              <a:t>,</a:t>
            </a:r>
          </a:p>
          <a:p>
            <a:r>
              <a:rPr lang="fr-FR" sz="1600"/>
              <a:t>la visualisation de </a:t>
            </a:r>
            <a:r>
              <a:rPr lang="fr-FR" sz="1600" b="1"/>
              <a:t>dashboards Power BI</a:t>
            </a:r>
            <a:r>
              <a:rPr lang="fr-FR" sz="1600"/>
              <a:t>,</a:t>
            </a:r>
          </a:p>
          <a:p>
            <a:r>
              <a:rPr lang="fr-FR" sz="1600"/>
              <a:t>la lecture de </a:t>
            </a:r>
            <a:r>
              <a:rPr lang="fr-FR" sz="1600" b="1"/>
              <a:t>livrables pédagogiques</a:t>
            </a:r>
            <a:r>
              <a:rPr lang="fr-FR" sz="1600"/>
              <a:t> (guide, veille),</a:t>
            </a:r>
          </a:p>
          <a:p>
            <a:r>
              <a:rPr lang="fr-FR" sz="1600"/>
              <a:t>l’évaluation de la </a:t>
            </a:r>
            <a:r>
              <a:rPr lang="fr-FR" sz="1600" b="1"/>
              <a:t>posture de consultant data</a:t>
            </a:r>
            <a:r>
              <a:rPr lang="fr-FR" sz="1600"/>
              <a:t>.</a:t>
            </a:r>
          </a:p>
          <a:p>
            <a:r>
              <a:rPr lang="fr-FR" sz="1600"/>
              <a:t>Les évolutions futures possibles :</a:t>
            </a:r>
          </a:p>
          <a:p>
            <a:r>
              <a:rPr lang="fr-FR" sz="1600"/>
              <a:t>ajout de nouveaux projets,</a:t>
            </a:r>
          </a:p>
          <a:p>
            <a:r>
              <a:rPr lang="fr-FR" sz="1600"/>
              <a:t>enrichissement des dashboards,</a:t>
            </a:r>
          </a:p>
          <a:p>
            <a:r>
              <a:rPr lang="fr-FR" sz="1600"/>
              <a:t>intégration de nouveaux outils BI.</a:t>
            </a:r>
          </a:p>
          <a:p>
            <a:pPr marL="228600" lvl="0" indent="0" rtl="0"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endParaRPr lang="fr-FR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" name="Rectangle 13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r>
              <a:rPr lang="fr-FR" sz="4000" b="1">
                <a:solidFill>
                  <a:srgbClr val="FFFFFF"/>
                </a:solidFill>
              </a:rPr>
              <a:t>6. Spécifications techniques</a:t>
            </a:r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r>
              <a:rPr lang="fr-FR" sz="1600" b="1"/>
              <a:t>6.1 Technologies utilisées</a:t>
            </a:r>
          </a:p>
          <a:p>
            <a:r>
              <a:rPr lang="fr-FR" sz="1600" b="1"/>
              <a:t>GitHub</a:t>
            </a:r>
            <a:r>
              <a:rPr lang="fr-FR" sz="1600"/>
              <a:t> (repositories, versioning)</a:t>
            </a:r>
          </a:p>
          <a:p>
            <a:r>
              <a:rPr lang="fr-FR" sz="1600" b="1"/>
              <a:t>GitHub Pages</a:t>
            </a:r>
            <a:r>
              <a:rPr lang="fr-FR" sz="1600"/>
              <a:t> (hébergement du portfolio)</a:t>
            </a:r>
          </a:p>
          <a:p>
            <a:r>
              <a:rPr lang="fr-FR" sz="1600" b="1"/>
              <a:t>Power BI Desktop</a:t>
            </a:r>
            <a:r>
              <a:rPr lang="fr-FR" sz="1600"/>
              <a:t> (visualisations et dashboards)</a:t>
            </a:r>
          </a:p>
          <a:p>
            <a:r>
              <a:rPr lang="fr-FR" sz="1600" b="1"/>
              <a:t>Python / SQL / KNIME</a:t>
            </a:r>
            <a:r>
              <a:rPr lang="fr-FR" sz="1600"/>
              <a:t> (selon projets)</a:t>
            </a:r>
          </a:p>
          <a:p>
            <a:r>
              <a:rPr lang="fr-FR" sz="1600" b="1"/>
              <a:t>Excel / CSV</a:t>
            </a:r>
            <a:r>
              <a:rPr lang="fr-FR" sz="1600"/>
              <a:t> pour les jeux de données</a:t>
            </a:r>
          </a:p>
          <a:p>
            <a:r>
              <a:rPr lang="fr-FR" sz="1600" b="1"/>
              <a:t>6.2 Environnement</a:t>
            </a:r>
          </a:p>
          <a:p>
            <a:r>
              <a:rPr lang="fr-FR" sz="1600"/>
              <a:t>Compatible navigateurs récents (Chrome, Edge, Firefox)</a:t>
            </a:r>
          </a:p>
          <a:p>
            <a:r>
              <a:rPr lang="fr-FR" sz="1600"/>
              <a:t>Consultation desktop prioritaire</a:t>
            </a:r>
          </a:p>
          <a:p>
            <a:r>
              <a:rPr lang="fr-FR" sz="1600"/>
              <a:t>Pas de dépendance serveur spécifique</a:t>
            </a:r>
          </a:p>
          <a:p>
            <a:pPr marL="228600" lvl="0" indent="0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fr-FR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FABFD1CE-37FA-CFD3-8DCD-2AF8894C2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" name="Rectangle 13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Google Shape;126;p20">
            <a:extLst>
              <a:ext uri="{FF2B5EF4-FFF2-40B4-BE49-F238E27FC236}">
                <a16:creationId xmlns:a16="http://schemas.microsoft.com/office/drawing/2014/main" id="{42188C81-265A-8C4E-C836-2FD7DA8DF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r>
              <a:rPr lang="fr-FR" sz="4000" b="1">
                <a:solidFill>
                  <a:srgbClr val="FFFFFF"/>
                </a:solidFill>
              </a:rPr>
              <a:t>7. Contraintes techniques et réglementaires</a:t>
            </a:r>
          </a:p>
        </p:txBody>
      </p:sp>
      <p:sp>
        <p:nvSpPr>
          <p:cNvPr id="127" name="Google Shape;127;p20">
            <a:extLst>
              <a:ext uri="{FF2B5EF4-FFF2-40B4-BE49-F238E27FC236}">
                <a16:creationId xmlns:a16="http://schemas.microsoft.com/office/drawing/2014/main" id="{A7C8E431-35E0-DCA9-5AB5-34CBD6E70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r>
              <a:rPr lang="fr-FR" sz="2000"/>
              <a:t>Respect du </a:t>
            </a:r>
            <a:r>
              <a:rPr lang="fr-FR" sz="2000" b="1"/>
              <a:t>RGPD</a:t>
            </a:r>
            <a:r>
              <a:rPr lang="fr-FR" sz="2000"/>
              <a:t> :</a:t>
            </a:r>
          </a:p>
          <a:p>
            <a:pPr lvl="1"/>
            <a:r>
              <a:rPr lang="fr-FR" sz="2000"/>
              <a:t>anonymisation des données sensibles,</a:t>
            </a:r>
          </a:p>
          <a:p>
            <a:pPr lvl="1"/>
            <a:r>
              <a:rPr lang="fr-FR" sz="2000"/>
              <a:t>données fictives ou agrégées si nécessaire</a:t>
            </a:r>
          </a:p>
          <a:p>
            <a:r>
              <a:rPr lang="fr-FR" sz="2000"/>
              <a:t>Pas de données confidentielles d’entreprise</a:t>
            </a:r>
          </a:p>
          <a:p>
            <a:r>
              <a:rPr lang="fr-FR" sz="2000"/>
              <a:t>Sécurité assurée par l’hébergement GitHub</a:t>
            </a:r>
          </a:p>
          <a:p>
            <a:r>
              <a:rPr lang="fr-FR" sz="2000"/>
              <a:t>Sauvegarde via versioning Git</a:t>
            </a:r>
          </a:p>
          <a:p>
            <a:pPr marL="228600" lvl="0" indent="0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3580086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8. Qualité et performance (1)</a:t>
            </a:r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r>
              <a:rPr lang="fr-FR" sz="1400" b="1"/>
              <a:t>8.1 Données</a:t>
            </a:r>
          </a:p>
          <a:p>
            <a:r>
              <a:rPr lang="fr-FR" sz="1400"/>
              <a:t>Les livrables ne doivent contenir aucune donnée confidentielle d’entreprise.</a:t>
            </a:r>
          </a:p>
          <a:p>
            <a:r>
              <a:rPr lang="fr-FR" sz="1400"/>
              <a:t>Si des données sensibles existent, elles doivent être anonymisées ou remplacées par des données neutres/fictives.</a:t>
            </a:r>
          </a:p>
          <a:p>
            <a:r>
              <a:rPr lang="fr-FR" sz="1400"/>
              <a:t>Les datasets partagés doivent être exploitables sans accès externe.</a:t>
            </a:r>
          </a:p>
          <a:p>
            <a:r>
              <a:rPr lang="fr-FR" sz="1400" b="1"/>
              <a:t>8.2 Clarté &amp; lisibilité</a:t>
            </a:r>
          </a:p>
          <a:p>
            <a:r>
              <a:rPr lang="fr-FR" sz="1400"/>
              <a:t>Les contenus doivent être compréhensibles par un public non technique</a:t>
            </a:r>
          </a:p>
          <a:p>
            <a:r>
              <a:rPr lang="fr-FR" sz="1400"/>
              <a:t>Les conclusions et recommandations doivent être explicites</a:t>
            </a:r>
          </a:p>
          <a:p>
            <a:r>
              <a:rPr lang="fr-FR" sz="1400" b="1"/>
              <a:t>8.3 Qualité attendue</a:t>
            </a:r>
          </a:p>
          <a:p>
            <a:r>
              <a:rPr lang="fr-FR" sz="1400"/>
              <a:t>README propres et homogènes</a:t>
            </a:r>
          </a:p>
          <a:p>
            <a:r>
              <a:rPr lang="fr-FR" sz="1400"/>
              <a:t>Structure de fichiers stable</a:t>
            </a:r>
          </a:p>
          <a:p>
            <a:r>
              <a:rPr lang="fr-FR" sz="1400"/>
              <a:t>Dashboards lisibles (storytelling, hiérarchie visuelle, filtres simples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sz="1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4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8. Qualité et performance (2)</a:t>
            </a:r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713679" y="1622745"/>
            <a:ext cx="10381952" cy="4856114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Autofit/>
          </a:bodyPr>
          <a:lstStyle/>
          <a:p>
            <a:r>
              <a:rPr lang="fr-FR" sz="1400" b="1" dirty="0"/>
              <a:t>8.4 KPI — Coûts</a:t>
            </a:r>
          </a:p>
          <a:p>
            <a:r>
              <a:rPr lang="fr-FR" sz="1400" b="1" dirty="0"/>
              <a:t>Temps passé par livrable</a:t>
            </a:r>
            <a:r>
              <a:rPr lang="fr-FR" sz="1400" dirty="0"/>
              <a:t> (heures) vs temps cible (ex : 1 livrable = X heures)</a:t>
            </a:r>
          </a:p>
          <a:p>
            <a:r>
              <a:rPr lang="fr-FR" sz="1400" b="1" dirty="0"/>
              <a:t>Nombre de retours/corrections majeures</a:t>
            </a:r>
            <a:r>
              <a:rPr lang="fr-FR" sz="1400" dirty="0"/>
              <a:t> (objectif : ≤ 1 cycle majeur / livrable)</a:t>
            </a:r>
          </a:p>
          <a:p>
            <a:r>
              <a:rPr lang="fr-FR" sz="1400" b="1" dirty="0"/>
              <a:t>8.5 KPI — Délais</a:t>
            </a:r>
          </a:p>
          <a:p>
            <a:r>
              <a:rPr lang="fr-FR" sz="1400" b="1" dirty="0"/>
              <a:t>% livrables terminés à la date prévue</a:t>
            </a:r>
            <a:r>
              <a:rPr lang="fr-FR" sz="1400" dirty="0"/>
              <a:t> (objectif : ≥ 90%)</a:t>
            </a:r>
          </a:p>
          <a:p>
            <a:r>
              <a:rPr lang="fr-FR" sz="1400" b="1" dirty="0"/>
              <a:t>Écart moyen planning</a:t>
            </a:r>
            <a:r>
              <a:rPr lang="fr-FR" sz="1400" dirty="0"/>
              <a:t> (jours) entre prévu vs réel</a:t>
            </a:r>
          </a:p>
          <a:p>
            <a:r>
              <a:rPr lang="fr-FR" sz="1400" b="1" dirty="0"/>
              <a:t>8.6 KPI — Qualité</a:t>
            </a:r>
          </a:p>
          <a:p>
            <a:r>
              <a:rPr lang="fr-FR" sz="1400" b="1" dirty="0"/>
              <a:t>Taux de liens fonctionnels</a:t>
            </a:r>
            <a:r>
              <a:rPr lang="fr-FR" sz="1400" dirty="0"/>
              <a:t> (objectif : 100%)</a:t>
            </a:r>
          </a:p>
          <a:p>
            <a:r>
              <a:rPr lang="fr-FR" sz="1400" b="1" dirty="0"/>
              <a:t>Complétude README</a:t>
            </a:r>
            <a:r>
              <a:rPr lang="fr-FR" sz="1400" dirty="0"/>
              <a:t> (checklist sections : objectif/contexte/problème/approche/résultat/livrables) : objectif 100%</a:t>
            </a:r>
          </a:p>
          <a:p>
            <a:r>
              <a:rPr lang="fr-FR" sz="1400" b="1" dirty="0"/>
              <a:t>Lisibilité</a:t>
            </a:r>
            <a:r>
              <a:rPr lang="fr-FR" sz="1400" dirty="0"/>
              <a:t> : 1 page “profil” compréhensible en &lt; 60 secondes (test rapide)</a:t>
            </a:r>
          </a:p>
          <a:p>
            <a:r>
              <a:rPr lang="fr-FR" sz="1400" b="1" dirty="0"/>
              <a:t>8.7 KPI — Efficacité &amp; avancement</a:t>
            </a:r>
          </a:p>
          <a:p>
            <a:r>
              <a:rPr lang="fr-FR" sz="1400" b="1" dirty="0"/>
              <a:t>Avancement global</a:t>
            </a:r>
            <a:r>
              <a:rPr lang="fr-FR" sz="1400" dirty="0"/>
              <a:t> (% livrables finalisés / total)</a:t>
            </a:r>
          </a:p>
          <a:p>
            <a:r>
              <a:rPr lang="fr-FR" sz="1400" b="1" dirty="0"/>
              <a:t>Taux de standardisation</a:t>
            </a:r>
            <a:r>
              <a:rPr lang="fr-FR" sz="1400" dirty="0"/>
              <a:t> (% projets conformes au </a:t>
            </a:r>
            <a:r>
              <a:rPr lang="fr-FR" sz="1400" dirty="0" err="1"/>
              <a:t>template</a:t>
            </a:r>
            <a:r>
              <a:rPr lang="fr-FR" sz="1400" dirty="0"/>
              <a:t> README)</a:t>
            </a:r>
          </a:p>
          <a:p>
            <a:r>
              <a:rPr lang="fr-FR" sz="1400" b="1" dirty="0"/>
              <a:t>Temps d’accès aux livrables</a:t>
            </a:r>
            <a:r>
              <a:rPr lang="fr-FR" sz="1400" dirty="0"/>
              <a:t> : &lt; 3 clics depuis la page portfolio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0" name="Rectangle 14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Montserrat"/>
              </a:rPr>
              <a:t>9.Rétroplanning</a:t>
            </a:r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/>
              </a:rPr>
              <a:t>Liste synthétique des dates clés du projet</a:t>
            </a:r>
          </a:p>
        </p:txBody>
      </p:sp>
      <p:pic>
        <p:nvPicPr>
          <p:cNvPr id="3" name="Image 2" descr="Une image contenant texte, capture d’écran, nombre, Tracé&#10;&#10;Le contenu généré par l’IA peut être incorrect.">
            <a:extLst>
              <a:ext uri="{FF2B5EF4-FFF2-40B4-BE49-F238E27FC236}">
                <a16:creationId xmlns:a16="http://schemas.microsoft.com/office/drawing/2014/main" id="{ECE34C83-F428-33D2-11E9-FE6268FCD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25" y="2139255"/>
            <a:ext cx="11327549" cy="41062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6" name="Rectangle 15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10.Devis</a:t>
            </a:r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>
            <a:off x="869795" y="1761893"/>
            <a:ext cx="10850137" cy="4705814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r>
              <a:rPr lang="fr-FR" sz="1400" b="1" dirty="0"/>
              <a:t>10.1 Estimation de charge (indicative)</a:t>
            </a:r>
          </a:p>
          <a:p>
            <a:r>
              <a:rPr lang="fr-FR" sz="1400" dirty="0"/>
              <a:t>Structuration &amp; mise en place portfolio (page + navigation) : </a:t>
            </a:r>
            <a:r>
              <a:rPr lang="fr-FR" sz="1400" b="1" dirty="0"/>
              <a:t>0,5 à 1 j</a:t>
            </a:r>
            <a:endParaRPr lang="fr-FR" sz="1400" dirty="0"/>
          </a:p>
          <a:p>
            <a:r>
              <a:rPr lang="fr-FR" sz="1400" dirty="0"/>
              <a:t>Standardisation README + organisation repository (par projet) : </a:t>
            </a:r>
            <a:r>
              <a:rPr lang="fr-FR" sz="1400" b="1" dirty="0"/>
              <a:t>0,5 à 1 h / projet</a:t>
            </a:r>
            <a:endParaRPr lang="fr-FR" sz="1400" dirty="0"/>
          </a:p>
          <a:p>
            <a:r>
              <a:rPr lang="fr-FR" sz="1400" dirty="0" err="1"/>
              <a:t>Upload</a:t>
            </a:r>
            <a:r>
              <a:rPr lang="fr-FR" sz="1400" dirty="0"/>
              <a:t> &amp; mise au propre livrables (par projet) : </a:t>
            </a:r>
            <a:r>
              <a:rPr lang="fr-FR" sz="1400" b="1" dirty="0"/>
              <a:t>0,5 à 1 h / projet</a:t>
            </a:r>
            <a:endParaRPr lang="fr-FR" sz="1400" dirty="0"/>
          </a:p>
          <a:p>
            <a:r>
              <a:rPr lang="fr-FR" sz="1400" dirty="0"/>
              <a:t>Dashboard Power BI “CV / Portfolio” : </a:t>
            </a:r>
            <a:r>
              <a:rPr lang="fr-FR" sz="1400" b="1" dirty="0"/>
              <a:t>1 à 2 j</a:t>
            </a:r>
            <a:endParaRPr lang="fr-FR" sz="1400" dirty="0"/>
          </a:p>
          <a:p>
            <a:r>
              <a:rPr lang="fr-FR" sz="1400" dirty="0"/>
              <a:t>Dashboard “Veille” : </a:t>
            </a:r>
            <a:r>
              <a:rPr lang="fr-FR" sz="1400" b="1" dirty="0"/>
              <a:t>1 à 2 j</a:t>
            </a:r>
            <a:endParaRPr lang="fr-FR" sz="1400" dirty="0"/>
          </a:p>
          <a:p>
            <a:r>
              <a:rPr lang="fr-FR" sz="1400" dirty="0"/>
              <a:t>Documentation Power BI (guide + captures) : </a:t>
            </a:r>
            <a:r>
              <a:rPr lang="fr-FR" sz="1400" b="1" dirty="0"/>
              <a:t>0,5 à 1 j</a:t>
            </a:r>
            <a:endParaRPr lang="fr-FR" sz="1400" dirty="0"/>
          </a:p>
          <a:p>
            <a:r>
              <a:rPr lang="fr-FR" sz="1400" dirty="0"/>
              <a:t>Vidéo formation (prépa + enregistrement + export) : </a:t>
            </a:r>
            <a:r>
              <a:rPr lang="fr-FR" sz="1400" b="1" dirty="0"/>
              <a:t>0,5 à 1 j</a:t>
            </a:r>
            <a:endParaRPr lang="fr-FR" sz="1400" dirty="0"/>
          </a:p>
          <a:p>
            <a:r>
              <a:rPr lang="fr-FR" sz="1400" dirty="0"/>
              <a:t>Contrôle qualité final (liens, cohérence, relecture) : </a:t>
            </a:r>
            <a:r>
              <a:rPr lang="fr-FR" sz="1400" b="1" dirty="0"/>
              <a:t>0,5 j</a:t>
            </a:r>
            <a:endParaRPr lang="fr-FR" sz="1400" dirty="0"/>
          </a:p>
          <a:p>
            <a:r>
              <a:rPr lang="fr-FR" sz="1400" b="1" dirty="0"/>
              <a:t>10.2 Livrable final “pack”</a:t>
            </a:r>
          </a:p>
          <a:p>
            <a:r>
              <a:rPr lang="fr-FR" sz="1400" dirty="0"/>
              <a:t>Portfolio en ligne</a:t>
            </a:r>
          </a:p>
          <a:p>
            <a:r>
              <a:rPr lang="fr-FR" sz="1400" dirty="0"/>
              <a:t>Repositories complets et standardisés</a:t>
            </a:r>
          </a:p>
          <a:p>
            <a:r>
              <a:rPr lang="fr-FR" sz="1400" dirty="0" err="1"/>
              <a:t>Dashboards</a:t>
            </a:r>
            <a:r>
              <a:rPr lang="fr-FR" sz="1400" dirty="0"/>
              <a:t> + documentation + vidéo</a:t>
            </a:r>
          </a:p>
          <a:p>
            <a:pPr marL="457200" lvl="0" indent="0" rtl="0">
              <a:spcBef>
                <a:spcPts val="0"/>
              </a:spcBef>
              <a:spcAft>
                <a:spcPts val="1000"/>
              </a:spcAft>
              <a:buNone/>
            </a:pPr>
            <a:endParaRPr lang="fr-FR" sz="14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946</Words>
  <Application>Microsoft Office PowerPoint</Application>
  <PresentationFormat>Grand écran</PresentationFormat>
  <Paragraphs>138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Calibri</vt:lpstr>
      <vt:lpstr>Arial</vt:lpstr>
      <vt:lpstr>Montserrat</vt:lpstr>
      <vt:lpstr>Thème Office</vt:lpstr>
      <vt:lpstr>Cahier des charges</vt:lpstr>
      <vt:lpstr>Sommaire</vt:lpstr>
      <vt:lpstr>1. Présentation du projet</vt:lpstr>
      <vt:lpstr>2. Enjeux et objectifs</vt:lpstr>
      <vt:lpstr>3. Équipe projet</vt:lpstr>
      <vt:lpstr>4. Spécifications ergonomiques</vt:lpstr>
      <vt:lpstr>5. Spécifications fonctionnelles</vt:lpstr>
      <vt:lpstr>6. Spécifications techniques</vt:lpstr>
      <vt:lpstr>7. Contraintes techniques et réglementaires</vt:lpstr>
      <vt:lpstr>8. Qualité et performance (1)</vt:lpstr>
      <vt:lpstr>8. Qualité et performance (2)</vt:lpstr>
      <vt:lpstr>9.Rétroplanning</vt:lpstr>
      <vt:lpstr>10.Devis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Antoine Baude</dc:creator>
  <cp:lastModifiedBy>DA50769</cp:lastModifiedBy>
  <cp:revision>3</cp:revision>
  <dcterms:modified xsi:type="dcterms:W3CDTF">2026-01-30T09:00:15Z</dcterms:modified>
</cp:coreProperties>
</file>